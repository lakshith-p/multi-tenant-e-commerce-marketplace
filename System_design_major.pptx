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784EB0-3E81-4E57-8C59-CAFE60367840}">
  <a:tblStyle styleId="{E9784EB0-3E81-4E57-8C59-CAFE603678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6687" y="2448966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MULTI-TENANT E-COMMERCE MARKETPLACE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1000" y="3980408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Comprehensive Architecture, Design, and Requirements Specification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Requirements Pack: Stakeholders &amp; Stories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76275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Stakeholders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76275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Core User Stories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629400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38200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18383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Sellers (Tenants):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Need storefront customization, inventory mgmt, order processing, and sales analytics.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428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42887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Buyers (End Users):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Need personalized search, seamless checkout, order tracking, and history.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3019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30194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Admins: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Need tenant oversight, billing management, platform configs.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" y="36099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360997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Developers: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Need CI/CD pipelines, monitoring, and easy scalability.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91325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19900" y="18383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As a Seller: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 want to upload bulk inventory via CSV to quickly populate my catalog.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91325" y="2428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19900" y="242887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As a Buyer: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 want search results to prioritize items based on my browsing history for faster discovery.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91325" y="3019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19900" y="30194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As an Admin: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 want to disable a tenant's storefront immediately if they violate policy.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30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Context Diagram &amp; System Constraints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334125" y="1019175"/>
            <a:ext cx="575071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 Context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6334125" y="1390650"/>
            <a:ext cx="54768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334125" y="2724150"/>
            <a:ext cx="575071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Non-Functional Goals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334125" y="3095625"/>
            <a:ext cx="54768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496050" y="15430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24625" y="15430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Inbound: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Buyers -&gt; Web/Mobile App -&gt; API Gateway -&gt; Storefront Service.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96050" y="21336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24625" y="21336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Outbound: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Order Service -&gt; Payment Gateway (Stripe/PayPal) -&gt; Shipping (FedEx).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496050" y="32480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24625" y="32480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Elastic Scale: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Must handle Black Friday traffic spikes without degradation.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496050" y="38385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24625" y="38385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Strong Consistency: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Required for payments and inventory reservation (ACID).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496050" y="4429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524625" y="44291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Data Privacy: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Strict PII protection per tenant (GDPR/CCPA compliance).</a:t>
            </a:r>
            <a:endParaRPr/>
          </a:p>
        </p:txBody>
      </p:sp>
      <p:pic>
        <p:nvPicPr>
          <p:cNvPr id="135" name="Google Shape;13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50" y="1237498"/>
            <a:ext cx="5943600" cy="49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Architecture Style Trade-off Analysis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6"/>
          <p:cNvGraphicFramePr/>
          <p:nvPr/>
        </p:nvGraphicFramePr>
        <p:xfrm>
          <a:off x="381000" y="2243137"/>
          <a:ext cx="11430000" cy="3009900"/>
        </p:xfrm>
        <a:graphic>
          <a:graphicData uri="http://schemas.openxmlformats.org/drawingml/2006/table">
            <a:tbl>
              <a:tblPr firstRow="1" bandRow="1">
                <a:noFill/>
                <a:tableStyleId>{E9784EB0-3E81-4E57-8C59-CAFE60367840}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Style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Verdict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Monolith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Simple deployment, easy debugging, low latency (local calls).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Single point of failure, tight coupling, hard to scale components individually.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Rejected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Microservices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Elastic scaling (Search vs Checkout), polyglot persistence, fault isolation.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Distributed complexity, eventual consistency challenges, higher ops overhead.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Selected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Serverless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 ops, pay-per-execution, auto-scaling.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Cold starts, vendor lock-in, complex orchestration for long transactions.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Hybrid 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" name="Google Shape;144;p16"/>
          <p:cNvSpPr/>
          <p:nvPr/>
        </p:nvSpPr>
        <p:spPr>
          <a:xfrm>
            <a:off x="381000" y="2805112"/>
            <a:ext cx="135255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1733550" y="2805112"/>
            <a:ext cx="433283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066383" y="2805112"/>
            <a:ext cx="468734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0753725" y="2805112"/>
            <a:ext cx="105727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81000" y="3629025"/>
            <a:ext cx="13525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733550" y="3629025"/>
            <a:ext cx="43328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66383" y="3629025"/>
            <a:ext cx="46873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0753725" y="3629025"/>
            <a:ext cx="10572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81000" y="4438650"/>
            <a:ext cx="13525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733550" y="4438650"/>
            <a:ext cx="43328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066383" y="4438650"/>
            <a:ext cx="46873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753725" y="4438650"/>
            <a:ext cx="10572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476250" y="1890712"/>
            <a:ext cx="54006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Component &amp; Deployment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76250" y="2519362"/>
            <a:ext cx="5143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76250" y="2528887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Core Components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76250" y="3748087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Deployment Strategy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38175" y="274796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6750" y="2747962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API Gateway: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Request aggregation, routing, and rate limiting.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38175" y="30813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3081337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Domain Services: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Order, Inventory, User, Catalog, Search.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38175" y="341471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6750" y="3414712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Event Bus (Kafka):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Asynchronous messaging for decoupling.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8175" y="396716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66750" y="3967162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Orchestration: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Kubernetes (K8s) for container management.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8175" y="43005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66750" y="4300537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Config Mgmt: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Helm Charts for reproducible deployments.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38175" y="463391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66750" y="4633912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High Availability: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Multi-region deployment for disaster recovery.</a:t>
            </a:r>
            <a:endParaRPr/>
          </a:p>
        </p:txBody>
      </p:sp>
      <p:pic>
        <p:nvPicPr>
          <p:cNvPr id="177" name="Google Shape;1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9750" y="624125"/>
            <a:ext cx="6261500" cy="2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 rotWithShape="1">
          <a:blip r:embed="rId5">
            <a:alphaModFix/>
          </a:blip>
          <a:srcRect r="-1626"/>
          <a:stretch/>
        </p:blipFill>
        <p:spPr>
          <a:xfrm>
            <a:off x="5619750" y="2890825"/>
            <a:ext cx="6396424" cy="33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262187"/>
            <a:ext cx="36512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0325" y="2262187"/>
            <a:ext cx="36512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262187"/>
            <a:ext cx="3651349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Selected Design Patterns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28650" y="3005137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Creational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28650" y="3529012"/>
            <a:ext cx="315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Factory Pattern: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Used to instantiate the correct Payment Provider (e.g., StripeFactory, PayPalFactory) dynamically based on user selection.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517975" y="3005137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Structural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517975" y="3529012"/>
            <a:ext cx="31559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Facade: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"Search Service" hides complexity of Elasticsearch.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Adapter: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Standardizes 3rd-party APIs (Shipping/Payment) into a common interface.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407300" y="3005137"/>
            <a:ext cx="331385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Behavioral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407300" y="3529012"/>
            <a:ext cx="3156049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Saga (Orchestration):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Manages distributed transactions (Order-&gt;Pay-&gt;Inventory).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Outbox: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Ensures atomic DB update + Event publish.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" y="25193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975" y="25193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7300" y="2519362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Anti-Patterns Avoided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676275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Distributed Monolith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76275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76275" y="2009775"/>
            <a:ext cx="48863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Problem: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Microservices sharing a single database schema, leading to tight coupling and fear of schema changes.</a:t>
            </a:r>
            <a:endParaRPr sz="1600" dirty="0"/>
          </a:p>
        </p:txBody>
      </p:sp>
      <p:sp>
        <p:nvSpPr>
          <p:cNvPr id="210" name="Google Shape;210;p19"/>
          <p:cNvSpPr txBox="1"/>
          <p:nvPr/>
        </p:nvSpPr>
        <p:spPr>
          <a:xfrm>
            <a:off x="676275" y="3233737"/>
            <a:ext cx="48863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Database-per-service pattern. Each service owns its data and exposes it only via APIs.</a:t>
            </a:r>
            <a:endParaRPr sz="1600" dirty="0"/>
          </a:p>
        </p:txBody>
      </p:sp>
      <p:sp>
        <p:nvSpPr>
          <p:cNvPr id="211" name="Google Shape;211;p19"/>
          <p:cNvSpPr txBox="1"/>
          <p:nvPr/>
        </p:nvSpPr>
        <p:spPr>
          <a:xfrm>
            <a:off x="6629400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Chatty I/O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6629400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29400" y="2009775"/>
            <a:ext cx="48863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Problem: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Frontend making N+1 calls to fetch data (e.g., 1 call for Order, 10 calls for Product details).</a:t>
            </a:r>
            <a:endParaRPr sz="1600" dirty="0"/>
          </a:p>
        </p:txBody>
      </p:sp>
      <p:sp>
        <p:nvSpPr>
          <p:cNvPr id="214" name="Google Shape;214;p19"/>
          <p:cNvSpPr txBox="1"/>
          <p:nvPr/>
        </p:nvSpPr>
        <p:spPr>
          <a:xfrm>
            <a:off x="6751557" y="3233737"/>
            <a:ext cx="48863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API Gateway (Backend-for-Frontend) aggregates multiple downstream calls into a single response.</a:t>
            </a: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14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Polyglot Persistence Strategy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334125" y="1019175"/>
            <a:ext cx="575071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Technology Selection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6334125" y="1390650"/>
            <a:ext cx="54768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382893" y="3667125"/>
            <a:ext cx="575071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Multi-Tenancy</a:t>
            </a:r>
            <a:endParaRPr dirty="0"/>
          </a:p>
        </p:txBody>
      </p:sp>
      <p:sp>
        <p:nvSpPr>
          <p:cNvPr id="225" name="Google Shape;225;p20"/>
          <p:cNvSpPr/>
          <p:nvPr/>
        </p:nvSpPr>
        <p:spPr>
          <a:xfrm>
            <a:off x="6334125" y="4019550"/>
            <a:ext cx="54768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334125" y="4267200"/>
            <a:ext cx="5476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Shared Database, Separate Schema:</a:t>
            </a: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Balanced cost/isolation. `</a:t>
            </a:r>
            <a:r>
              <a:rPr lang="en-US" sz="135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tenant_id</a:t>
            </a: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` used in every table with RLS policies.</a:t>
            </a:r>
            <a:endParaRPr dirty="0"/>
          </a:p>
        </p:txBody>
      </p:sp>
      <p:sp>
        <p:nvSpPr>
          <p:cNvPr id="227" name="Google Shape;227;p20"/>
          <p:cNvSpPr txBox="1"/>
          <p:nvPr/>
        </p:nvSpPr>
        <p:spPr>
          <a:xfrm>
            <a:off x="6496050" y="15430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524625" y="15430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PostgreSQL (Relational):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Orders, Payments, Users. Chosen for ACID compliance and transactional integrity.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496050" y="21336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524625" y="21336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MongoDB (Doc Store):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Product Catalog. Chosen for flexible schema to support varied product attributes.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496050" y="27241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524625" y="2724150"/>
            <a:ext cx="528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Elasticsearch:</a:t>
            </a: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Search Index. Chosen for fuzzy matching, faceting, and high-performance read queries.</a:t>
            </a:r>
            <a:endParaRPr dirty="0"/>
          </a:p>
        </p:txBody>
      </p:sp>
      <p:pic>
        <p:nvPicPr>
          <p:cNvPr id="233" name="Google Shape;2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123" y="1797749"/>
            <a:ext cx="5561877" cy="298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3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DB Normalization &amp; Partitioning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676275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Normalization Rationale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76275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629400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Partitioning &amp; Indexing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6629400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729497" y="1974056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48" name="Google Shape;248;p21"/>
          <p:cNvSpPr txBox="1"/>
          <p:nvPr/>
        </p:nvSpPr>
        <p:spPr>
          <a:xfrm>
            <a:off x="866775" y="1838325"/>
            <a:ext cx="46958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Normalized (SQL):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Order/Payment data is highly normalized (3NF) to ensure consistency and reduce redundancy.</a:t>
            </a:r>
            <a:endParaRPr sz="1600" dirty="0"/>
          </a:p>
        </p:txBody>
      </p:sp>
      <p:sp>
        <p:nvSpPr>
          <p:cNvPr id="249" name="Google Shape;249;p21"/>
          <p:cNvSpPr txBox="1"/>
          <p:nvPr/>
        </p:nvSpPr>
        <p:spPr>
          <a:xfrm>
            <a:off x="729497" y="3200399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50" name="Google Shape;250;p21"/>
          <p:cNvSpPr txBox="1"/>
          <p:nvPr/>
        </p:nvSpPr>
        <p:spPr>
          <a:xfrm>
            <a:off x="866775" y="3071812"/>
            <a:ext cx="46958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Denormalized (NoSQL):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Product data is denormalized (embedded documents) to optimize for read-heavy catalog browsing.</a:t>
            </a:r>
            <a:endParaRPr sz="1600" dirty="0"/>
          </a:p>
        </p:txBody>
      </p:sp>
      <p:sp>
        <p:nvSpPr>
          <p:cNvPr id="251" name="Google Shape;251;p21"/>
          <p:cNvSpPr txBox="1"/>
          <p:nvPr/>
        </p:nvSpPr>
        <p:spPr>
          <a:xfrm>
            <a:off x="6629400" y="18954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52" name="Google Shape;252;p21"/>
          <p:cNvSpPr txBox="1"/>
          <p:nvPr/>
        </p:nvSpPr>
        <p:spPr>
          <a:xfrm>
            <a:off x="6819900" y="1838325"/>
            <a:ext cx="46958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Sharding Plan: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Shard high-volume tables (Orders, Logs) by `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tenant_id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` for isolation or `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order_id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` for load distribution.</a:t>
            </a:r>
            <a:endParaRPr sz="1600"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6629400" y="318611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54" name="Google Shape;254;p21"/>
          <p:cNvSpPr txBox="1"/>
          <p:nvPr/>
        </p:nvSpPr>
        <p:spPr>
          <a:xfrm>
            <a:off x="6819900" y="3120628"/>
            <a:ext cx="46958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Indexing: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Composite indexes on `(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tenant_id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created_at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)` for fast tenant-scoped reporting.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262187"/>
            <a:ext cx="36512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0325" y="2262187"/>
            <a:ext cx="36512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262187"/>
            <a:ext cx="3651349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&amp; Scalability Strategies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628650" y="3005137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Caching Strategy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28650" y="3529012"/>
            <a:ext cx="31559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L1 (In-Memory):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Local cache for static configs.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L2 (Redis):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Distributed cache for sessions/carts.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CDN: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Edge caching for images/assets.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4517975" y="3005137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Load Balancing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4517975" y="3529012"/>
            <a:ext cx="315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Layer 7: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NGINX/ALB routing based on URL path or Tenant Subdomain.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Algorithm: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Least connections or Round Robin.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8407300" y="3005137"/>
            <a:ext cx="331385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Backpressure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407300" y="3529012"/>
            <a:ext cx="315604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Rate Limiting: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Token Bucket algorithm applied per tenant at the API Gateway to prevent "Noisy Neighbor" issues.</a:t>
            </a:r>
            <a:endParaRPr/>
          </a:p>
        </p:txBody>
      </p:sp>
      <p:pic>
        <p:nvPicPr>
          <p:cNvPr id="271" name="Google Shape;27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" y="251936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975" y="25193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7300" y="2519362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Security: Defense in Depth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676275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Threat Model &amp; Auth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676275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6629400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OWASP Top 10 Defenses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6629400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838200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866775" y="18383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Threat: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Tenant Data Leakage. </a:t>
            </a: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Defense: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Row-Level Security (RLS) enforced via `tenant_id`.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38200" y="2428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66775" y="2428875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Threat: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DDoS. </a:t>
            </a: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Defense: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WAF &amp; Rate Limiting.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838200" y="27622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66775" y="2762250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AuthN: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OIDC with centralized IdP (Keycloak/Auth0).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838200" y="30956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866775" y="3095625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AuthZ: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RBAC using JWT scopes.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791325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819900" y="1838325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Injection: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Use ORM/Prepared Statements.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791325" y="2171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819900" y="2171700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Broken Access Control: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Enforce checks at API Gateway &amp; Service level.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791325" y="27622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819900" y="2762250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Sensitive Data Exposure: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TLS 1.3 in transit, AES-256 at rest.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791325" y="30956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819900" y="3095625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XSS: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Input sanitization and Content Security Policy (CSP).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019175"/>
            <a:ext cx="5476875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Reliability &amp; Disaster Recovery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676275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Resilience Patterns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676275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6629400" y="131445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Disaster Recovery (DR)</a:t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6629400" y="1685925"/>
            <a:ext cx="48863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838200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866775" y="183832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Circuit Breakers: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Fail fast if downstream service (e.g., Reviews) is down, preventing cascading failure.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838200" y="2428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866775" y="242887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Retries: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Exponential backoff with jitter for transient errors (e.g., network blips).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838200" y="3019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866775" y="3019425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Bulkheads: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Isolate connection pools per service.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6791325" y="1838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6819900" y="1838325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Strategy: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Active-Passive Multi-region.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791325" y="2171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819900" y="2171700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RPO (Recovery Point Objective):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15 minutes (Async DB replication).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791325" y="27622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819900" y="2762250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RTO (Recovery Time Objective):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1 hour (Automated failover scripts).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6791325" y="33528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819900" y="3352800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Backups: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Hourly incremental snapshots to S3.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 Specification &amp; Standards</a:t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25"/>
          <p:cNvGraphicFramePr/>
          <p:nvPr/>
        </p:nvGraphicFramePr>
        <p:xfrm>
          <a:off x="381000" y="2224087"/>
          <a:ext cx="11430000" cy="3048000"/>
        </p:xfrm>
        <a:graphic>
          <a:graphicData uri="http://schemas.openxmlformats.org/drawingml/2006/table">
            <a:tbl>
              <a:tblPr firstRow="1" bandRow="1">
                <a:noFill/>
                <a:tableStyleId>{E9784EB0-3E81-4E57-8C59-CAFE60367840}</a:tableStyleId>
              </a:tblPr>
              <a:tblGrid>
                <a:gridCol w="155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Aspect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Standard/Implementation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Protocol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REST:</a:t>
                      </a: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Standard CRUD (Orders, Products).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GraphQL:</a:t>
                      </a: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Storefront (fetching complex product graphs).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Versioning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URI Versioning (e.g., `/api/v1/orders`) for explicit client contracts.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Idempotency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`Idempotency-Key` header required for `POST` (Create) and `PATCH` (Pay) to prevent duplicates.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Error Codes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HTTP: 200 (OK), 400 (Bad Request), 401 (Unauth), 403 (Forbidden), 429 (Rate Limit), 500 (Internal).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" name="Google Shape;338;p25"/>
          <p:cNvSpPr/>
          <p:nvPr/>
        </p:nvSpPr>
        <p:spPr>
          <a:xfrm>
            <a:off x="381000" y="2786062"/>
            <a:ext cx="155644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937444" y="2786062"/>
            <a:ext cx="987355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381000" y="3609975"/>
            <a:ext cx="15564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1937444" y="3609975"/>
            <a:ext cx="98735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381000" y="4162425"/>
            <a:ext cx="15564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1937444" y="4162425"/>
            <a:ext cx="98735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381000" y="4714875"/>
            <a:ext cx="15564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1937444" y="4714875"/>
            <a:ext cx="98735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 txBox="1"/>
          <p:nvPr/>
        </p:nvSpPr>
        <p:spPr>
          <a:xfrm>
            <a:off x="476250" y="1762125"/>
            <a:ext cx="54006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Observability Stack</a:t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476250" y="2390775"/>
            <a:ext cx="5143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 txBox="1"/>
          <p:nvPr/>
        </p:nvSpPr>
        <p:spPr>
          <a:xfrm>
            <a:off x="476250" y="240030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Three Pillars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476250" y="3876675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SLOs &amp; Alerting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638175" y="26193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666750" y="261937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Logs: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Structured JSON logs aggregated in ELK/Datadog.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638175" y="29527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666750" y="295275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Metrics: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Prometheus collecting RED (Rate, Errors, Duration).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638175" y="3286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666750" y="3286125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Traces: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OpenTelemetry (Trace ID propagated across </a:t>
            </a:r>
            <a:endParaRPr sz="1350" b="0" i="0" u="none" strike="noStrike" cap="none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gateway -&gt; service).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638175" y="40957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666750" y="409575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SLO: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99.9% Availability, P99 Latency &lt; 200ms.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638175" y="4429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666750" y="442912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Alerting: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PagerDuty for critical breaches.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638175" y="47625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666750" y="476250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Runbooks: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Automated links in alerts to remediation steps.</a:t>
            </a:r>
            <a:endParaRPr/>
          </a:p>
        </p:txBody>
      </p:sp>
      <p:pic>
        <p:nvPicPr>
          <p:cNvPr id="367" name="Google Shape;3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6925" y="1640450"/>
            <a:ext cx="6031099" cy="381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 txBox="1"/>
          <p:nvPr/>
        </p:nvSpPr>
        <p:spPr>
          <a:xfrm>
            <a:off x="381000" y="381000"/>
            <a:ext cx="1181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Technology Stack Selection</a:t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381000" y="1009650"/>
            <a:ext cx="11430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" name="Google Shape;375;p27"/>
          <p:cNvGraphicFramePr/>
          <p:nvPr/>
        </p:nvGraphicFramePr>
        <p:xfrm>
          <a:off x="381000" y="2352675"/>
          <a:ext cx="11430000" cy="2790875"/>
        </p:xfrm>
        <a:graphic>
          <a:graphicData uri="http://schemas.openxmlformats.org/drawingml/2006/table">
            <a:tbl>
              <a:tblPr firstRow="1" bandRow="1">
                <a:noFill/>
                <a:tableStyleId>{E9784EB0-3E81-4E57-8C59-CAFE60367840}</a:tableStyleId>
              </a:tblPr>
              <a:tblGrid>
                <a:gridCol w="106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Selected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Alternatives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Rationale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Backend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 &amp; Java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Node.js, Python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 for high-throughput (Checkout); Java for complex domain logic (Order Orchestration).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Vue, Angular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Component-based, rich ecosystem, large talent pool.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Postgres, Mongo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MySQL, Couchbase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Postgres for robust ACID compliance; Mongo for flexible product attributes.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Kubernetes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Serverless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for orchestrating containerized microservices; avoids vendor lock-in.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6" name="Google Shape;376;p27"/>
          <p:cNvSpPr/>
          <p:nvPr/>
        </p:nvSpPr>
        <p:spPr>
          <a:xfrm>
            <a:off x="381000" y="2914650"/>
            <a:ext cx="106546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1446460" y="2914650"/>
            <a:ext cx="154974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2996207" y="2914650"/>
            <a:ext cx="179189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4788098" y="2914650"/>
            <a:ext cx="702290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381000" y="3481387"/>
            <a:ext cx="10654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1446460" y="3481387"/>
            <a:ext cx="154974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2996207" y="3481387"/>
            <a:ext cx="17918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4788098" y="3481387"/>
            <a:ext cx="70229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381000" y="4033837"/>
            <a:ext cx="10654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1446460" y="4033837"/>
            <a:ext cx="154974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2996207" y="4033837"/>
            <a:ext cx="17918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788098" y="4033837"/>
            <a:ext cx="70229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381000" y="4586287"/>
            <a:ext cx="10654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1446460" y="4586287"/>
            <a:ext cx="154974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2996207" y="4586287"/>
            <a:ext cx="17918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4788098" y="4586287"/>
            <a:ext cx="70229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8"/>
          <p:cNvSpPr txBox="1"/>
          <p:nvPr/>
        </p:nvSpPr>
        <p:spPr>
          <a:xfrm>
            <a:off x="190500" y="2309812"/>
            <a:ext cx="1181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</a:t>
            </a:r>
            <a:endParaRPr sz="100"/>
          </a:p>
        </p:txBody>
      </p:sp>
      <p:sp>
        <p:nvSpPr>
          <p:cNvPr id="398" name="Google Shape;398;p28"/>
          <p:cNvSpPr txBox="1"/>
          <p:nvPr/>
        </p:nvSpPr>
        <p:spPr>
          <a:xfrm>
            <a:off x="381000" y="3833812"/>
            <a:ext cx="1143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CCD432-2157-4D96-1D30-FE8441BA0B05}"/>
              </a:ext>
            </a:extLst>
          </p:cNvPr>
          <p:cNvCxnSpPr>
            <a:cxnSpLocks/>
          </p:cNvCxnSpPr>
          <p:nvPr/>
        </p:nvCxnSpPr>
        <p:spPr>
          <a:xfrm>
            <a:off x="2194560" y="3119120"/>
            <a:ext cx="7894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Office PowerPoint</Application>
  <PresentationFormat>Widescreen</PresentationFormat>
  <Paragraphs>191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AMAR</cp:lastModifiedBy>
  <cp:revision>1</cp:revision>
  <dcterms:modified xsi:type="dcterms:W3CDTF">2025-12-04T13:43:25Z</dcterms:modified>
</cp:coreProperties>
</file>